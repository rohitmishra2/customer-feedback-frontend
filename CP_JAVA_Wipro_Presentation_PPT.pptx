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8" r:id="rId8"/>
    <p:sldId id="4429" r:id="rId9"/>
    <p:sldId id="4441" r:id="rId10"/>
    <p:sldId id="4426" r:id="rId11"/>
    <p:sldId id="4427" r:id="rId12"/>
    <p:sldId id="4430" r:id="rId13"/>
    <p:sldId id="4431" r:id="rId14"/>
    <p:sldId id="4442" r:id="rId15"/>
    <p:sldId id="4433" r:id="rId16"/>
    <p:sldId id="4434" r:id="rId17"/>
    <p:sldId id="4440" r:id="rId18"/>
    <p:sldId id="4444" r:id="rId19"/>
    <p:sldId id="4435" r:id="rId20"/>
    <p:sldId id="4443" r:id="rId21"/>
    <p:sldId id="4445" r:id="rId22"/>
    <p:sldId id="4432" r:id="rId23"/>
    <p:sldId id="44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  <pc:spChg chg="mod">
          <ac:chgData name="Raghavendra K" userId="33e83220-6405-4fd6-9ff8-8bc3593ea1b7" providerId="ADAL" clId="{8A5785CB-577F-4B60-9AC0-BEE165E210B1}" dt="2024-11-27T12:03:02.02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8A5785CB-577F-4B60-9AC0-BEE165E210B1}" dt="2024-11-27T12:03:16.739" v="19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ABA22749-26CE-4BB8-A881-85C53E80DE60}"/>
    <pc:docChg chg="modSld">
      <pc:chgData name="Raghavendra K" userId="33e83220-6405-4fd6-9ff8-8bc3593ea1b7" providerId="ADAL" clId="{ABA22749-26CE-4BB8-A881-85C53E80DE60}" dt="2025-02-15T08:41:06.850" v="43" actId="20577"/>
      <pc:docMkLst>
        <pc:docMk/>
      </pc:docMkLst>
      <pc:sldChg chg="modSp mod">
        <pc:chgData name="Raghavendra K" userId="33e83220-6405-4fd6-9ff8-8bc3593ea1b7" providerId="ADAL" clId="{ABA22749-26CE-4BB8-A881-85C53E80DE60}" dt="2025-02-15T08:41:06.850" v="43" actId="20577"/>
        <pc:sldMkLst>
          <pc:docMk/>
          <pc:sldMk cId="0" sldId="260"/>
        </pc:sldMkLst>
        <pc:spChg chg="mod">
          <ac:chgData name="Raghavendra K" userId="33e83220-6405-4fd6-9ff8-8bc3593ea1b7" providerId="ADAL" clId="{ABA22749-26CE-4BB8-A881-85C53E80DE60}" dt="2025-02-15T08:41:06.850" v="4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202518"/>
            <a:ext cx="678031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</a:t>
            </a:r>
            <a:r>
              <a:rPr lang="en-US" sz="2400" b="1" dirty="0">
                <a:solidFill>
                  <a:srgbClr val="FFFFFF"/>
                </a:solidFill>
                <a:latin typeface="HK Grotesk" pitchFamily="2" charset="77"/>
              </a:rPr>
              <a:t>Rohit Kumar</a:t>
            </a:r>
          </a:p>
          <a:p>
            <a:pPr algn="just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HK Grotesk" pitchFamily="2" charset="77"/>
              </a:rPr>
              <a:t>                            Priyan R K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78445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 </a:t>
            </a:r>
            <a:r>
              <a:rPr lang="en-US" sz="2400" b="1" dirty="0">
                <a:solidFill>
                  <a:schemeClr val="bg1"/>
                </a:solidFill>
                <a:latin typeface="HK Grotesk"/>
              </a:rPr>
              <a:t>Customer Feedback Management System</a:t>
            </a:r>
            <a:endParaRPr lang="en-US" sz="2400" dirty="0">
              <a:solidFill>
                <a:schemeClr val="bg1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15D14-16D9-7CD5-298E-080F1F0E9100}"/>
              </a:ext>
            </a:extLst>
          </p:cNvPr>
          <p:cNvSpPr txBox="1"/>
          <p:nvPr/>
        </p:nvSpPr>
        <p:spPr>
          <a:xfrm>
            <a:off x="267045" y="4585298"/>
            <a:ext cx="659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HK Grotesk"/>
              </a:rPr>
              <a:t>Team number - 16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667183" y="1051150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43104-2A8D-F338-85C7-9E2DDE9038EE}"/>
              </a:ext>
            </a:extLst>
          </p:cNvPr>
          <p:cNvSpPr txBox="1"/>
          <p:nvPr/>
        </p:nvSpPr>
        <p:spPr>
          <a:xfrm>
            <a:off x="667183" y="1888907"/>
            <a:ext cx="105994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Managing customer feedback manually can be difficult and inefficient. Many organizations struggle to collect, organize, and analyze customer opinions, which affects service quality and decision-making.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5261D-7554-EE81-C68D-69AE1A175017}"/>
              </a:ext>
            </a:extLst>
          </p:cNvPr>
          <p:cNvSpPr txBox="1"/>
          <p:nvPr/>
        </p:nvSpPr>
        <p:spPr>
          <a:xfrm>
            <a:off x="667183" y="3249885"/>
            <a:ext cx="105994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The Customer Feedback Management System is designed to solve this problem by providing a digital platform where users can submit structured feedback with ratings and comments in an organized manner.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F88A61-649D-9DF2-E387-6AD1768D4AA2}"/>
              </a:ext>
            </a:extLst>
          </p:cNvPr>
          <p:cNvSpPr txBox="1"/>
          <p:nvPr/>
        </p:nvSpPr>
        <p:spPr>
          <a:xfrm>
            <a:off x="667183" y="4610863"/>
            <a:ext cx="107581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The application offers a simple interface and real-time data storage, enabling administrators to easily monitor customer satisfaction and improve products and services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4C9D-D87E-C363-D1DA-2F10C5A6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C982BB6-C3BC-6731-5FE0-DC29B6D86E7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A6E1923-3FC0-4677-BEF3-33BAA4A70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7CDE3C3-1CDF-83E8-1073-ABA808D7158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0F3A-D223-36A4-FBBF-9F1A1DFA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09CD6-B8EF-9DB8-9751-264C2C49F42F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BC235-5076-8E3C-FB80-BA59E06C504E}"/>
              </a:ext>
            </a:extLst>
          </p:cNvPr>
          <p:cNvSpPr txBox="1"/>
          <p:nvPr/>
        </p:nvSpPr>
        <p:spPr>
          <a:xfrm>
            <a:off x="754396" y="1665971"/>
            <a:ext cx="1043625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The Customer Feedback Management System is a web application designed to collect, manage, and analyze customer feedback for products or services.</a:t>
            </a:r>
          </a:p>
          <a:p>
            <a:endParaRPr lang="en-IN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92281-4A22-CFD2-F7DC-87ACFAD180B5}"/>
              </a:ext>
            </a:extLst>
          </p:cNvPr>
          <p:cNvSpPr txBox="1"/>
          <p:nvPr/>
        </p:nvSpPr>
        <p:spPr>
          <a:xfrm>
            <a:off x="754396" y="2493763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It enables organizations to: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39AD3-AA62-E8DB-55F1-A241FE21C484}"/>
              </a:ext>
            </a:extLst>
          </p:cNvPr>
          <p:cNvSpPr txBox="1"/>
          <p:nvPr/>
        </p:nvSpPr>
        <p:spPr>
          <a:xfrm>
            <a:off x="1133575" y="2791122"/>
            <a:ext cx="609442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Understand customer satisfaction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99FA4E-9D66-9544-72AD-7DF8AD47610F}"/>
              </a:ext>
            </a:extLst>
          </p:cNvPr>
          <p:cNvSpPr txBox="1"/>
          <p:nvPr/>
        </p:nvSpPr>
        <p:spPr>
          <a:xfrm>
            <a:off x="1133575" y="3619166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Improve service quality using real-time feedback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CE9B2-190B-B4EB-2CE5-FBF3BD06D4D2}"/>
              </a:ext>
            </a:extLst>
          </p:cNvPr>
          <p:cNvSpPr txBox="1"/>
          <p:nvPr/>
        </p:nvSpPr>
        <p:spPr>
          <a:xfrm>
            <a:off x="754396" y="4162857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The system uses: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A2C57-54D6-DBC0-D9DE-482DDF4056B1}"/>
              </a:ext>
            </a:extLst>
          </p:cNvPr>
          <p:cNvSpPr txBox="1"/>
          <p:nvPr/>
        </p:nvSpPr>
        <p:spPr>
          <a:xfrm>
            <a:off x="1133574" y="4369819"/>
            <a:ext cx="719029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Angular frontend for feedback submission and dashboards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35209-6771-84D4-576F-B7E2B4579AF6}"/>
              </a:ext>
            </a:extLst>
          </p:cNvPr>
          <p:cNvSpPr txBox="1"/>
          <p:nvPr/>
        </p:nvSpPr>
        <p:spPr>
          <a:xfrm>
            <a:off x="1133575" y="4884929"/>
            <a:ext cx="609442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Spring Boot backend for REST APIs and business logic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F709CB-3251-9594-CB11-F0DDDCBE0863}"/>
              </a:ext>
            </a:extLst>
          </p:cNvPr>
          <p:cNvSpPr txBox="1"/>
          <p:nvPr/>
        </p:nvSpPr>
        <p:spPr>
          <a:xfrm>
            <a:off x="1133575" y="5135691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Docker and Azure for scalable deployment</a:t>
            </a:r>
          </a:p>
        </p:txBody>
      </p:sp>
    </p:spTree>
    <p:extLst>
      <p:ext uri="{BB962C8B-B14F-4D97-AF65-F5344CB8AC3E}">
        <p14:creationId xmlns:p14="http://schemas.microsoft.com/office/powerpoint/2010/main" val="88486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14B1-8400-68AF-6DE9-A88CF441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200A9FF-FCF5-8A11-4219-28D3B50EEE2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B202609-A009-7546-20BF-FBC36DDFB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333FFD8-9E29-954A-05F3-19D7F0F9F9C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AF5D0-D4D1-3DBE-7DDB-160674A9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BE6A6-EEE7-CCC0-7E38-9DFA2B747675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03D07-A1D7-A6B4-74A0-010C6C17B4BC}"/>
              </a:ext>
            </a:extLst>
          </p:cNvPr>
          <p:cNvSpPr txBox="1"/>
          <p:nvPr/>
        </p:nvSpPr>
        <p:spPr>
          <a:xfrm>
            <a:off x="754396" y="1616254"/>
            <a:ext cx="847233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Many businesses face challenges in: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Collecting structured customer feedback efficiently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Analysing customer satisfaction trends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Managing feedback securely in one platform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Manual feedback systems are: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Error-prone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Time-consuming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Hard to scale</a:t>
            </a:r>
          </a:p>
          <a:p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Hence, a centralized, web-based feedback system is required.</a:t>
            </a:r>
          </a:p>
        </p:txBody>
      </p:sp>
    </p:spTree>
    <p:extLst>
      <p:ext uri="{BB962C8B-B14F-4D97-AF65-F5344CB8AC3E}">
        <p14:creationId xmlns:p14="http://schemas.microsoft.com/office/powerpoint/2010/main" val="136389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8460-F4A7-3698-8DFC-6D9D758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D15068A-3C37-9080-80DD-2A9D83CF18A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1609090-32AD-AAFC-EA4A-804A352B4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C46F5E7-CC5B-49B6-8ED6-579DC8F06BD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AD45C-ECD1-737C-84AE-F9E158CF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916F8-C283-565A-AA29-862EF952BAA4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2817A-B520-0FD0-1C42-E76B331C876C}"/>
              </a:ext>
            </a:extLst>
          </p:cNvPr>
          <p:cNvSpPr txBox="1"/>
          <p:nvPr/>
        </p:nvSpPr>
        <p:spPr>
          <a:xfrm>
            <a:off x="754396" y="1484083"/>
            <a:ext cx="82838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collect structured customer feedback with ratings and comments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store feedback securely in a database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enable easy viewing and filtering of feedback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improve customer satisfaction analysis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validate user input and handle errors properly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To provide a user-friendly and efficient feedback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6681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C472-D101-EA76-F282-253F0174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7205E4-F8D4-DB1D-EB6B-271524FBA5E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374170F-9A03-41F7-2C54-3169A27DD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79CD1F-4F89-788A-C0C1-B368D87DB1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159C9-7E28-5E2A-28B7-7AADB568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AD2F3-FB80-BED6-0DF6-CAC9DDF0B76C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3591A-1E05-43B5-7837-6BEB61DBFF50}"/>
              </a:ext>
            </a:extLst>
          </p:cNvPr>
          <p:cNvSpPr txBox="1"/>
          <p:nvPr/>
        </p:nvSpPr>
        <p:spPr>
          <a:xfrm>
            <a:off x="754396" y="1665971"/>
            <a:ext cx="99297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The application follows a three-tier architecture to ensure scalability, maintainability, and clear separation of responsibilities: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Frontend (Angular):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Provides an interactive user interface for customers to submit feedback and for administrators to view and filter feedback through dashboards.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457200" indent="-457200" algn="just">
              <a:buFont typeface="+mj-lt"/>
              <a:buAutoNum type="arabicPeriod" startAt="2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Backend (Spring Boot REST APIs):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Handles business logic, data validation, request processing, and communication between the frontend and the database.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457200" indent="-457200" algn="just">
              <a:buFont typeface="+mj-lt"/>
              <a:buAutoNum type="arabicPeriod" startAt="3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Database (MySQL):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Stores customer details, product information, and feedback records securely in structured tables.</a:t>
            </a:r>
          </a:p>
        </p:txBody>
      </p:sp>
    </p:spTree>
    <p:extLst>
      <p:ext uri="{BB962C8B-B14F-4D97-AF65-F5344CB8AC3E}">
        <p14:creationId xmlns:p14="http://schemas.microsoft.com/office/powerpoint/2010/main" val="2325959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2F71-2567-A1EB-AC46-54AD4984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2819561-DB18-7A04-48F2-D6108D4FC05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8A19EC7-52BF-5CC3-AAE5-026B20885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E4FE23B-B38D-29D3-6872-F1CFABFA140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FE246-6116-6463-5CE9-58B2DFF8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0C311-1833-8292-F1AB-5CB93BDBFB45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Technology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00B26-FFDE-1CE0-F5E0-95C324CD9138}"/>
              </a:ext>
            </a:extLst>
          </p:cNvPr>
          <p:cNvSpPr txBox="1"/>
          <p:nvPr/>
        </p:nvSpPr>
        <p:spPr>
          <a:xfrm>
            <a:off x="945037" y="1831231"/>
            <a:ext cx="6094428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b="1" dirty="0">
                <a:solidFill>
                  <a:srgbClr val="0187CC"/>
                </a:solidFill>
                <a:latin typeface="HK Grotesk"/>
              </a:rPr>
              <a:t>Frontend:</a:t>
            </a: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Angular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HTML, CSS, TypeScript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solidFill>
                  <a:srgbClr val="0187CC"/>
                </a:solidFill>
                <a:latin typeface="HK Grotesk"/>
              </a:rPr>
              <a:t>Backend:</a:t>
            </a: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Java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Spring Boot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Spring Data JPA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E079A-2975-FB8F-0B51-6F5D5AED0A6F}"/>
              </a:ext>
            </a:extLst>
          </p:cNvPr>
          <p:cNvSpPr txBox="1"/>
          <p:nvPr/>
        </p:nvSpPr>
        <p:spPr>
          <a:xfrm>
            <a:off x="6656895" y="1831231"/>
            <a:ext cx="6094428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200" b="1" dirty="0">
                <a:solidFill>
                  <a:srgbClr val="0187CC"/>
                </a:solidFill>
                <a:latin typeface="HK Grotesk"/>
              </a:rPr>
              <a:t>Database:</a:t>
            </a: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MySQL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200" b="1" dirty="0">
                <a:solidFill>
                  <a:srgbClr val="0187CC"/>
                </a:solidFill>
                <a:latin typeface="HK Grotesk"/>
              </a:rPr>
              <a:t>DevOps:</a:t>
            </a: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Docker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Azure App Service</a:t>
            </a:r>
          </a:p>
        </p:txBody>
      </p:sp>
    </p:spTree>
    <p:extLst>
      <p:ext uri="{BB962C8B-B14F-4D97-AF65-F5344CB8AC3E}">
        <p14:creationId xmlns:p14="http://schemas.microsoft.com/office/powerpoint/2010/main" val="3439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EA7AE-14B6-3830-37CD-819016C4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63D082B-9666-1EEC-B39E-35429B5E0B1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89B5FE7-35E4-870A-BCE5-A809BD221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90EDF7F-1F72-8115-5A37-B9CBEA89FFD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3ED0B-D9B4-039F-1387-F5C42D1B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47658-4B2E-0DD0-6E18-97C6802CC6C1}"/>
              </a:ext>
            </a:extLst>
          </p:cNvPr>
          <p:cNvSpPr txBox="1"/>
          <p:nvPr/>
        </p:nvSpPr>
        <p:spPr>
          <a:xfrm>
            <a:off x="754395" y="949990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Core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58BB-AC16-0B66-8BB7-58DCEE489DC1}"/>
              </a:ext>
            </a:extLst>
          </p:cNvPr>
          <p:cNvSpPr txBox="1"/>
          <p:nvPr/>
        </p:nvSpPr>
        <p:spPr>
          <a:xfrm>
            <a:off x="754395" y="1565880"/>
            <a:ext cx="927572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Allows customers to submit feedback with ratings and detailed comments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Displays all submitted feedback in an organized dashboard view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Enables filtering of feedback based on ratings for better analysis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Stores feedback securely and reliably in the database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Validates user input to ensure accurate data entry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187CC"/>
                </a:solidFill>
                <a:latin typeface="HK Grotesk"/>
              </a:rPr>
              <a:t>Handles errors gracefully using proper exception handling mechanisms</a:t>
            </a:r>
          </a:p>
          <a:p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1937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2DCA6B3B-C484-4C36-C170-78D326FA833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531C1896-9CC1-A85E-0F43-7DDD1770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58470A8-2E23-2E6F-D090-8214C2B0D7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553657-765B-050A-00B4-6C86BBC8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832AC-7593-455D-F163-FBBE57289F78}"/>
              </a:ext>
            </a:extLst>
          </p:cNvPr>
          <p:cNvSpPr txBox="1"/>
          <p:nvPr/>
        </p:nvSpPr>
        <p:spPr>
          <a:xfrm>
            <a:off x="754394" y="981105"/>
            <a:ext cx="608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0187CC"/>
                </a:solidFill>
              </a:rPr>
              <a:t>Authentication &amp; Security :</a:t>
            </a:r>
            <a:endParaRPr lang="en-US" sz="3200" b="1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00D015-609D-6A94-CB53-E246A4D6E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94" y="1615701"/>
            <a:ext cx="10102565" cy="338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User authentication implemented using Spring Security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Passwords are encrypted using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BCrypt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 before storing in database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JWT (JSON Web Token) is generated on successful login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Token is sent with each request to access protected APIs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187CC"/>
                </a:solidFill>
                <a:effectLst/>
                <a:latin typeface="HK Grotesk"/>
              </a:rPr>
              <a:t>Admin and User access controlled using roles</a:t>
            </a:r>
          </a:p>
        </p:txBody>
      </p:sp>
    </p:spTree>
    <p:extLst>
      <p:ext uri="{BB962C8B-B14F-4D97-AF65-F5344CB8AC3E}">
        <p14:creationId xmlns:p14="http://schemas.microsoft.com/office/powerpoint/2010/main" val="38490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AA08-CB52-F0C1-0F87-8F60AE62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2527257-376D-731F-472E-8821008FB6B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43A08EB-0602-DD49-A2E6-2DB1F48A5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6C27300-295E-1C0B-4C8B-D9B05DB4C03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08ACF-75F7-74AF-7481-01B22835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8F58A-B169-07E0-B9D8-373071621AE8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Backend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7761D-E43B-A483-38F2-139EFE6AD136}"/>
              </a:ext>
            </a:extLst>
          </p:cNvPr>
          <p:cNvSpPr txBox="1"/>
          <p:nvPr/>
        </p:nvSpPr>
        <p:spPr>
          <a:xfrm>
            <a:off x="754396" y="1665971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187CC"/>
                </a:solidFill>
                <a:latin typeface="HK Grotesk"/>
              </a:rPr>
              <a:t>Backend follows layered architecture: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8515-18B6-76FA-42B7-66726B5B892C}"/>
              </a:ext>
            </a:extLst>
          </p:cNvPr>
          <p:cNvSpPr txBox="1"/>
          <p:nvPr/>
        </p:nvSpPr>
        <p:spPr>
          <a:xfrm>
            <a:off x="754396" y="2109031"/>
            <a:ext cx="1023725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Controller Layer: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Handles incoming HTTP requests from the frontend and sends appropriate responses using REST APIs.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Service Layer: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Contains the core business logic and processes data before passing it between controllers and repositories.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Repository Layer: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Handles all database interactions and data persistence operations.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Entity Layer: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Maps Java classes to database tables using JPA annotations for object-relational mapping.</a:t>
            </a:r>
          </a:p>
        </p:txBody>
      </p:sp>
    </p:spTree>
    <p:extLst>
      <p:ext uri="{BB962C8B-B14F-4D97-AF65-F5344CB8AC3E}">
        <p14:creationId xmlns:p14="http://schemas.microsoft.com/office/powerpoint/2010/main" val="21586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ECBA-C1C8-17C0-6A54-9C27AFB1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FA1EF2E-C21D-44D7-3DF2-F1BA3807702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BB5B870-B767-A06F-A571-E3FD0A78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B58CD7B-0373-6B74-0942-0968A21E015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C070-A191-6CFD-8DC3-D4B85AEA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81C3F-B156-5960-BAD6-7E9B710C2818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Frontend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E7F70-A588-5D34-638F-57D901633CBF}"/>
              </a:ext>
            </a:extLst>
          </p:cNvPr>
          <p:cNvSpPr txBox="1"/>
          <p:nvPr/>
        </p:nvSpPr>
        <p:spPr>
          <a:xfrm>
            <a:off x="754396" y="1477332"/>
            <a:ext cx="1151621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The frontend is developed using Angular and provides an interactive interface for users: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Includes a feedback submission form where customers can enter ratings and comments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Displays submitted feedback through a dashboard for easy viewing and filtering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Uses service classes to communicate with backend REST APIs</a:t>
            </a:r>
          </a:p>
          <a:p>
            <a:pPr algn="just"/>
            <a:endParaRPr lang="en-IN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5A9FF-6869-AAAD-43A6-759111FC7B82}"/>
              </a:ext>
            </a:extLst>
          </p:cNvPr>
          <p:cNvSpPr txBox="1"/>
          <p:nvPr/>
        </p:nvSpPr>
        <p:spPr>
          <a:xfrm>
            <a:off x="754396" y="3874116"/>
            <a:ext cx="61368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It utilizes: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Angular routing for smooth navigation between pages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HTTP client services for backend communication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Reactive forms for input validation and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57454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617E-F8D5-48FF-80A8-88CF6288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CB8B338-BF7F-24CB-2E12-AF134868F2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0B87BC3-5D89-B35A-2C14-B0D550843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946D9BE-1093-F798-C924-6252D26525D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74F86-EFD4-28A5-DE87-02F5A3E91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97337-A485-87A2-E337-FDF71E33D4A1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Database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49BDC-B170-AD09-45CC-96B6CA5EE9F9}"/>
              </a:ext>
            </a:extLst>
          </p:cNvPr>
          <p:cNvSpPr txBox="1"/>
          <p:nvPr/>
        </p:nvSpPr>
        <p:spPr>
          <a:xfrm>
            <a:off x="754396" y="1308139"/>
            <a:ext cx="843463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Main tables: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Users - id, </a:t>
            </a:r>
            <a:r>
              <a:rPr lang="en-IN" sz="2000" dirty="0" err="1">
                <a:solidFill>
                  <a:srgbClr val="0187CC"/>
                </a:solidFill>
                <a:latin typeface="HK Grotesk"/>
              </a:rPr>
              <a:t>full_name</a:t>
            </a:r>
            <a:r>
              <a:rPr lang="en-IN" sz="2000" dirty="0">
                <a:solidFill>
                  <a:srgbClr val="0187CC"/>
                </a:solidFill>
                <a:latin typeface="HK Grotesk"/>
              </a:rPr>
              <a:t>, email, password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Product - id, name, </a:t>
            </a:r>
            <a:r>
              <a:rPr lang="en-IN" sz="2000" dirty="0" err="1">
                <a:solidFill>
                  <a:srgbClr val="0187CC"/>
                </a:solidFill>
                <a:latin typeface="HK Grotesk"/>
              </a:rPr>
              <a:t>description,active</a:t>
            </a: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Feedback - id, rating, comments, </a:t>
            </a:r>
            <a:r>
              <a:rPr lang="en-IN" sz="2000" dirty="0" err="1">
                <a:solidFill>
                  <a:srgbClr val="0187CC"/>
                </a:solidFill>
                <a:latin typeface="HK Grotesk"/>
              </a:rPr>
              <a:t>User_id</a:t>
            </a:r>
            <a:r>
              <a:rPr lang="en-IN" sz="2000" dirty="0">
                <a:solidFill>
                  <a:srgbClr val="0187CC"/>
                </a:solidFill>
                <a:latin typeface="HK Grotesk"/>
              </a:rPr>
              <a:t>, </a:t>
            </a:r>
            <a:r>
              <a:rPr lang="en-IN" sz="2000" dirty="0" err="1">
                <a:solidFill>
                  <a:srgbClr val="0187CC"/>
                </a:solidFill>
                <a:latin typeface="HK Grotesk"/>
              </a:rPr>
              <a:t>product_id,created_at</a:t>
            </a: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Relationships: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One user → Many feedbacks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One product → Many feedbacks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Implemented using JPA entity mappings.</a:t>
            </a:r>
          </a:p>
        </p:txBody>
      </p:sp>
    </p:spTree>
    <p:extLst>
      <p:ext uri="{BB962C8B-B14F-4D97-AF65-F5344CB8AC3E}">
        <p14:creationId xmlns:p14="http://schemas.microsoft.com/office/powerpoint/2010/main" val="407172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606B-2A5D-277C-3E75-95C01822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316BF1C-91AA-99C1-7DB0-0AD7EC700D2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3E9CD69-E859-93E3-770E-7E875E62E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F7C6EE7-4ACE-AE81-A998-6B0B398B795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AEEF8-BA87-4AD4-512E-2ED2C4D3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57190-0DB0-0D1B-37F4-9BAE98E39403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EE7DD-9721-9C14-007A-06C4EAB9B667}"/>
              </a:ext>
            </a:extLst>
          </p:cNvPr>
          <p:cNvSpPr txBox="1"/>
          <p:nvPr/>
        </p:nvSpPr>
        <p:spPr>
          <a:xfrm>
            <a:off x="754396" y="1665971"/>
            <a:ext cx="111589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Containerizes backend applications, ensuring consistent environments across development, testing, and deployment.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Hosts the backend services, providing reliable cloud infrastructure and supporting application scalability.</a:t>
            </a:r>
          </a:p>
          <a:p>
            <a:pPr algn="just"/>
            <a:endParaRPr lang="en-IN" sz="20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A0B6D-F0D4-AB9F-24EA-DA880E96BD7A}"/>
              </a:ext>
            </a:extLst>
          </p:cNvPr>
          <p:cNvSpPr txBox="1"/>
          <p:nvPr/>
        </p:nvSpPr>
        <p:spPr>
          <a:xfrm>
            <a:off x="754396" y="4166906"/>
            <a:ext cx="60944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0187CC"/>
                </a:solidFill>
                <a:latin typeface="HK Grotesk"/>
              </a:rPr>
              <a:t>Benefits: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Simplified deployment process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Secure cloud-based hosting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187CC"/>
                </a:solidFill>
                <a:latin typeface="HK Grotesk"/>
              </a:rPr>
              <a:t>High availability and improved system reliability</a:t>
            </a:r>
          </a:p>
        </p:txBody>
      </p:sp>
    </p:spTree>
    <p:extLst>
      <p:ext uri="{BB962C8B-B14F-4D97-AF65-F5344CB8AC3E}">
        <p14:creationId xmlns:p14="http://schemas.microsoft.com/office/powerpoint/2010/main" val="276699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29F0C1CF-B9F9-C3AC-3C9C-C7C56C714FC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1CB5115-3383-22C5-F491-640320C9B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0328B5F-E22F-0604-AE45-243AD0BD1DF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8514C56-C5FA-A5CC-5476-FFDA3655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9DC2F-D15D-BCA5-A205-AC3A8DFB626B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ER-DIAGRAM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25C472-6EEC-6180-3DA5-ED69E50D7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156" y="1665971"/>
            <a:ext cx="6259403" cy="438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35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33B4-68B8-4846-95F1-4F242A6D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8699FF-F62E-41CA-E837-21775466CBD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64B92D6-AFE2-4D77-5176-090A59D9C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62877CA-073B-10C1-C4F6-4D09E000F65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C998C-20DC-9210-F717-D58EB797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7332E-9F03-2315-BA0A-C1B9A534DFCF}"/>
              </a:ext>
            </a:extLst>
          </p:cNvPr>
          <p:cNvSpPr txBox="1"/>
          <p:nvPr/>
        </p:nvSpPr>
        <p:spPr>
          <a:xfrm>
            <a:off x="622421" y="766147"/>
            <a:ext cx="53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Application Screenshots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3903EB-8F96-532F-F3FB-E42F95F5D141}"/>
              </a:ext>
            </a:extLst>
          </p:cNvPr>
          <p:cNvSpPr txBox="1"/>
          <p:nvPr/>
        </p:nvSpPr>
        <p:spPr>
          <a:xfrm>
            <a:off x="622421" y="1555348"/>
            <a:ext cx="5341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  <a:latin typeface="HK Grotesk"/>
              </a:rPr>
              <a:t>Login Page for User &amp; Admin</a:t>
            </a:r>
            <a:endParaRPr lang="en-IN" sz="16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B84006-436E-3674-EC72-422185044C8F}"/>
              </a:ext>
            </a:extLst>
          </p:cNvPr>
          <p:cNvSpPr txBox="1"/>
          <p:nvPr/>
        </p:nvSpPr>
        <p:spPr>
          <a:xfrm>
            <a:off x="8195484" y="1555348"/>
            <a:ext cx="24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  <a:latin typeface="HK Grotesk"/>
              </a:rPr>
              <a:t>Feedback Form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C432B-13DA-E1B6-B53A-6407E3BF1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8" r="144" b="6288"/>
          <a:stretch>
            <a:fillRect/>
          </a:stretch>
        </p:blipFill>
        <p:spPr>
          <a:xfrm>
            <a:off x="299538" y="2108105"/>
            <a:ext cx="5416325" cy="4173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53C3AE-D647-B83A-6A7E-61937E384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8" b="6408"/>
          <a:stretch>
            <a:fillRect/>
          </a:stretch>
        </p:blipFill>
        <p:spPr>
          <a:xfrm>
            <a:off x="5964025" y="2087412"/>
            <a:ext cx="6094625" cy="41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77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41A8-CF1F-575D-5334-8EFDB480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611323C-A94C-266F-D617-8D54B4BD88E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9972090-E919-D761-89C7-AA918FE2B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883637E-4B3A-30CD-A722-ECA4FBEA548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17BF3-21FD-97EF-0659-18CEE2B0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562AC-AE51-3D9B-5D00-8B80725B7209}"/>
              </a:ext>
            </a:extLst>
          </p:cNvPr>
          <p:cNvSpPr txBox="1"/>
          <p:nvPr/>
        </p:nvSpPr>
        <p:spPr>
          <a:xfrm>
            <a:off x="754395" y="892557"/>
            <a:ext cx="4863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Application Screenshots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18113-CECB-9FD2-E614-F0CFC8C4E937}"/>
              </a:ext>
            </a:extLst>
          </p:cNvPr>
          <p:cNvSpPr txBox="1"/>
          <p:nvPr/>
        </p:nvSpPr>
        <p:spPr>
          <a:xfrm>
            <a:off x="754396" y="1544237"/>
            <a:ext cx="496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  <a:latin typeface="HK Grotesk"/>
              </a:rPr>
              <a:t>Admin dashboard to view &amp; filter feedback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40A24-49C2-94A6-4C73-EE0AC28A5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" b="4583"/>
          <a:stretch>
            <a:fillRect/>
          </a:stretch>
        </p:blipFill>
        <p:spPr>
          <a:xfrm>
            <a:off x="205895" y="1975798"/>
            <a:ext cx="5960978" cy="4171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81423A-3447-631D-F770-A71F39258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5" b="6408"/>
          <a:stretch>
            <a:fillRect/>
          </a:stretch>
        </p:blipFill>
        <p:spPr>
          <a:xfrm>
            <a:off x="6296420" y="1913569"/>
            <a:ext cx="5689685" cy="41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13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E6E1-8913-C367-DDD0-4676DC88F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0F567C2-B539-9E66-F48E-36F622481AF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E11D972-1CDC-519A-B3F9-90D134BC2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B17FF48-A56F-59DF-FBD4-618A59EB82D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D2E86-D072-860E-D843-E708AF34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54626-3668-6101-500C-2E353EA30CCC}"/>
              </a:ext>
            </a:extLst>
          </p:cNvPr>
          <p:cNvSpPr txBox="1"/>
          <p:nvPr/>
        </p:nvSpPr>
        <p:spPr>
          <a:xfrm>
            <a:off x="754396" y="892557"/>
            <a:ext cx="4901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Application Screenshots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BCE90-5958-01E2-7B13-3D7C6FCD7973}"/>
              </a:ext>
            </a:extLst>
          </p:cNvPr>
          <p:cNvSpPr txBox="1"/>
          <p:nvPr/>
        </p:nvSpPr>
        <p:spPr>
          <a:xfrm>
            <a:off x="881064" y="1608825"/>
            <a:ext cx="3543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  <a:latin typeface="HK Grotesk"/>
              </a:rPr>
              <a:t>Data Storing at 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7B8D49-4FD3-D2D0-4B3D-0268D30B4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5" b="9791"/>
          <a:stretch>
            <a:fillRect/>
          </a:stretch>
        </p:blipFill>
        <p:spPr>
          <a:xfrm>
            <a:off x="754396" y="2040386"/>
            <a:ext cx="10599404" cy="418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2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BA0D0D4D-AE19-AA69-D4B6-4F74F53AFAF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02298CE-4649-FE24-DC2F-4EEB1B3BC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B752A5B3-A343-3C76-F57B-9B38596DDDE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B6E9F0-C2DB-608C-6339-14CBD464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A6BB5-57F8-D7FD-2BCB-B6DDF02112D6}"/>
              </a:ext>
            </a:extLst>
          </p:cNvPr>
          <p:cNvSpPr txBox="1"/>
          <p:nvPr/>
        </p:nvSpPr>
        <p:spPr>
          <a:xfrm>
            <a:off x="754396" y="892557"/>
            <a:ext cx="4901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Postman Screenshots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58ED9D-F4C3-CB4D-346F-9B7893766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1463044"/>
            <a:ext cx="10404142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88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3669-CAC3-EEA7-6C7C-A04AB701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455DBBF-4AB4-56F3-D071-1C9FC8CD72E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72FF221-5383-93C2-0317-D0642A439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465DAC-7ED4-D748-0E48-6B2EFB25CDF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78A1-FB1D-7121-943A-9209DED1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DA10D-9280-0945-8831-CC95A5E1655B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Docker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44E2A4-DB08-4315-E4C7-1F907B3CE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07"/>
          <a:stretch>
            <a:fillRect/>
          </a:stretch>
        </p:blipFill>
        <p:spPr>
          <a:xfrm>
            <a:off x="754396" y="1477332"/>
            <a:ext cx="10489867" cy="448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99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7649F798-EDC7-982C-49AB-293B63FC9E9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126C50F-061F-C9C1-9101-D244B9467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6677AB67-746F-C3AC-C62F-A7971C12901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9BF8467-E328-08BD-5E41-4681362F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CB048-BF65-7D29-FCCE-48A307D00C8A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Azure Deployment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422409-0627-465A-1DDE-0016AA5F7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77332"/>
            <a:ext cx="10102565" cy="48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8E3DAE89-6C35-5DEE-B81F-1662B7160B4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B689870-D04E-EA42-D43A-1B8A77842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1940C982-23FE-7AEC-CCB7-B68835DDD60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81B992-FABA-0C6C-18EB-288E9A9A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D55E8-6802-ECFC-7B7B-02ECA9C26689}"/>
              </a:ext>
            </a:extLst>
          </p:cNvPr>
          <p:cNvSpPr txBox="1"/>
          <p:nvPr/>
        </p:nvSpPr>
        <p:spPr>
          <a:xfrm>
            <a:off x="754396" y="892557"/>
            <a:ext cx="4132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Azure Deployment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85392-7BEE-FE86-89D5-F2BA338F3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7332"/>
            <a:ext cx="10220325" cy="48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40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04C94-A993-12AC-AE9A-AE09BB2F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329B8F1-A9BB-5274-4706-80E1D2B88EE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Customer Feedback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1FB3F9B-CE6C-7305-E09F-8A8675A4D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F900F84-0FAD-8B8F-5603-7ED8B006581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9A12-69F9-4857-2198-D931A703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88728-7F41-2DAC-3D58-A4AB836F88C8}"/>
              </a:ext>
            </a:extLst>
          </p:cNvPr>
          <p:cNvSpPr txBox="1"/>
          <p:nvPr/>
        </p:nvSpPr>
        <p:spPr>
          <a:xfrm>
            <a:off x="754396" y="873704"/>
            <a:ext cx="7201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Conclusion &amp; Future Enhancements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648F6-2D78-BBF8-79ED-0EF0ED673A0B}"/>
              </a:ext>
            </a:extLst>
          </p:cNvPr>
          <p:cNvSpPr txBox="1"/>
          <p:nvPr/>
        </p:nvSpPr>
        <p:spPr>
          <a:xfrm>
            <a:off x="879051" y="1458479"/>
            <a:ext cx="907565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 algn="just">
              <a:buNone/>
            </a:pPr>
            <a:r>
              <a:rPr lang="en-US" sz="2000" b="1" dirty="0">
                <a:solidFill>
                  <a:srgbClr val="0187CC"/>
                </a:solidFill>
                <a:latin typeface="HK Grotesk"/>
              </a:rPr>
              <a:t>Conclusion:</a:t>
            </a:r>
            <a:endParaRPr lang="en-US" sz="20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Successfully built a full-stack feedback management system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Secure authentication and real-time feedback storage implemented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Improved customer feedback collection and analysis through a centralized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06926-D028-D428-1E05-F91C66BE9897}"/>
              </a:ext>
            </a:extLst>
          </p:cNvPr>
          <p:cNvSpPr txBox="1"/>
          <p:nvPr/>
        </p:nvSpPr>
        <p:spPr>
          <a:xfrm>
            <a:off x="879051" y="3674097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1" dirty="0">
                <a:solidFill>
                  <a:srgbClr val="0187CC"/>
                </a:solidFill>
                <a:latin typeface="HK Grotesk"/>
              </a:rPr>
              <a:t>Future Enhancements:</a:t>
            </a:r>
            <a:endParaRPr lang="en-US" sz="1800" dirty="0">
              <a:solidFill>
                <a:srgbClr val="0187CC"/>
              </a:solidFill>
              <a:latin typeface="HK Grotesk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187CC"/>
                </a:solidFill>
                <a:latin typeface="HK Grotesk"/>
              </a:rPr>
              <a:t>Add feedback analytics dashboards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187CC"/>
                </a:solidFill>
                <a:latin typeface="HK Grotesk"/>
              </a:rPr>
              <a:t>Implement role-based authorization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187CC"/>
                </a:solidFill>
                <a:latin typeface="HK Grotesk"/>
              </a:rPr>
              <a:t>Add email notifications</a:t>
            </a:r>
          </a:p>
          <a:p>
            <a:pPr algn="just"/>
            <a:endParaRPr lang="en-US" sz="18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170182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7119-8A9F-11A9-9DD4-745E8B5C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A6AE61A-6A8C-219C-8B06-FEAC6C95E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DC98192-94B4-8B28-913E-8D9DBDD2AAA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2F191-DF6D-ADCF-5CAC-474D05B8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18AE9-0152-5306-EF19-8DA2DCA33566}"/>
              </a:ext>
            </a:extLst>
          </p:cNvPr>
          <p:cNvSpPr txBox="1"/>
          <p:nvPr/>
        </p:nvSpPr>
        <p:spPr>
          <a:xfrm>
            <a:off x="2422689" y="2474688"/>
            <a:ext cx="92571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0187CC"/>
                </a:solidFill>
                <a:latin typeface="HK Grotesk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676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3935</TotalTime>
  <Words>1105</Words>
  <Application>Microsoft Office PowerPoint</Application>
  <PresentationFormat>Widescreen</PresentationFormat>
  <Paragraphs>243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Courier New</vt:lpstr>
      <vt:lpstr>HK Grotesk</vt:lpstr>
      <vt:lpstr>HK Grotesk Bold</vt:lpstr>
      <vt:lpstr>HK Grotesk Light</vt:lpstr>
      <vt:lpstr>HK Grotesk Light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Krishnakumar R. M</cp:lastModifiedBy>
  <cp:revision>26</cp:revision>
  <dcterms:created xsi:type="dcterms:W3CDTF">2024-05-04T13:11:57Z</dcterms:created>
  <dcterms:modified xsi:type="dcterms:W3CDTF">2026-02-10T02:47:39Z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